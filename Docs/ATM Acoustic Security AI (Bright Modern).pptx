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Burbank Big Cd Bk" pitchFamily="50" charset="0"/>
      <p:bold r:id="rId14"/>
    </p:embeddedFont>
    <p:embeddedFont>
      <p:font typeface="Inter" panose="02000503000000020004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22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/>
        </p:nvSpPr>
        <p:spPr>
          <a:xfrm>
            <a:off x="834761" y="1614058"/>
            <a:ext cx="1052247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3600" b="1" dirty="0"/>
              <a:t>ATM Security System Using Acoustic AI</a:t>
            </a:r>
            <a:endParaRPr sz="1050" b="1"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2306976" y="3022904"/>
            <a:ext cx="7601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Mini-Project Final Review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2619590" y="3636405"/>
            <a:ext cx="6975872" cy="186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IN" sz="1600" b="1" dirty="0"/>
              <a:t>Team Members:</a:t>
            </a:r>
            <a:br>
              <a:rPr lang="en-IN" sz="1600" b="1" dirty="0"/>
            </a:br>
            <a:r>
              <a:rPr lang="en-IN" sz="1600" b="1" dirty="0"/>
              <a:t> ABISHEK A                       - 122012012838</a:t>
            </a:r>
          </a:p>
          <a:p>
            <a:pPr lvl="0" algn="ctr">
              <a:lnSpc>
                <a:spcPct val="115000"/>
              </a:lnSpc>
            </a:pPr>
            <a:r>
              <a:rPr lang="en-IN" sz="1600" b="1" dirty="0"/>
              <a:t> KUBANDRA GUPTHA J   - 122012012806</a:t>
            </a:r>
          </a:p>
          <a:p>
            <a:pPr lvl="0" algn="ctr">
              <a:lnSpc>
                <a:spcPct val="115000"/>
              </a:lnSpc>
            </a:pPr>
            <a:r>
              <a:rPr lang="en-IN" sz="1600" b="1" dirty="0"/>
              <a:t> RAHMAN N     	            - 122012012892</a:t>
            </a:r>
          </a:p>
          <a:p>
            <a:pPr lvl="0" algn="ctr">
              <a:lnSpc>
                <a:spcPct val="115000"/>
              </a:lnSpc>
            </a:pPr>
            <a:r>
              <a:rPr lang="en-IN" sz="1600" b="1" dirty="0"/>
              <a:t>VARUN R  	           -122012012890     </a:t>
            </a:r>
          </a:p>
          <a:p>
            <a:pPr lvl="0" algn="ctr">
              <a:spcBef>
                <a:spcPts val="1600"/>
              </a:spcBef>
            </a:pPr>
            <a:r>
              <a:rPr lang="en-IN" sz="1600" b="1" dirty="0"/>
              <a:t>Project Guide </a:t>
            </a:r>
            <a:r>
              <a:rPr lang="en-IN" sz="1600" dirty="0"/>
              <a:t>: Dr. M. Sharmila Begum </a:t>
            </a:r>
            <a:r>
              <a:rPr lang="en-IN" dirty="0"/>
              <a:t>Professor / CSE</a:t>
            </a:r>
            <a:endParaRPr lang="en-IN" sz="1600" dirty="0"/>
          </a:p>
        </p:txBody>
      </p:sp>
      <p:pic>
        <p:nvPicPr>
          <p:cNvPr id="2" name="Google Shape;73;p13" title="download.png">
            <a:extLst>
              <a:ext uri="{FF2B5EF4-FFF2-40B4-BE49-F238E27FC236}">
                <a16:creationId xmlns:a16="http://schemas.microsoft.com/office/drawing/2014/main" id="{7C217C21-F587-F6D0-E8A4-2A4435B97A8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9137" y="203149"/>
            <a:ext cx="2569258" cy="924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/>
        </p:nvSpPr>
        <p:spPr>
          <a:xfrm>
            <a:off x="571500" y="49649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Introduction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0" y="7047607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References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71500" y="1963340"/>
            <a:ext cx="11072632" cy="320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 algn="just">
              <a:lnSpc>
                <a:spcPct val="30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1600" b="1" dirty="0"/>
              <a:t>The Context:</a:t>
            </a:r>
            <a:r>
              <a:rPr lang="en-US" sz="1600" dirty="0"/>
              <a:t> ATMs are critical infrastructure but vulnerable to physical attacks like drilling, cutting, and smashing.</a:t>
            </a:r>
          </a:p>
          <a:p>
            <a:pPr marL="285750" indent="-285750" algn="just">
              <a:lnSpc>
                <a:spcPct val="30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1600" b="1" dirty="0"/>
              <a:t>The Concept:</a:t>
            </a:r>
            <a:r>
              <a:rPr lang="en-US" sz="1600" dirty="0"/>
              <a:t> An intelligent security layer that "listens" to the environment.</a:t>
            </a:r>
          </a:p>
          <a:p>
            <a:pPr marL="285750" indent="-285750" algn="just">
              <a:lnSpc>
                <a:spcPct val="20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1600" b="1" dirty="0"/>
              <a:t>The Solution:</a:t>
            </a:r>
            <a:r>
              <a:rPr lang="en-US" sz="1600" dirty="0"/>
              <a:t> We use </a:t>
            </a:r>
            <a:r>
              <a:rPr lang="en-US" sz="1600" b="1" dirty="0"/>
              <a:t>Deep Learning (CRNN)</a:t>
            </a:r>
            <a:r>
              <a:rPr lang="en-US" sz="1600" dirty="0"/>
              <a:t> to analyze audio in real-time, distinguishing specific threat signatures from background noise.</a:t>
            </a:r>
          </a:p>
          <a:p>
            <a:pPr marL="285750" indent="-285750" algn="just">
              <a:lnSpc>
                <a:spcPct val="30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1600" b="1" dirty="0"/>
              <a:t>Key Benefit:</a:t>
            </a:r>
            <a:r>
              <a:rPr lang="en-US" sz="1600" dirty="0"/>
              <a:t> Proactive detection (triggering *during* the attack) rather than reactive recording (CCTV).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31;p15" descr="image.png">
            <a:extLst>
              <a:ext uri="{FF2B5EF4-FFF2-40B4-BE49-F238E27FC236}">
                <a16:creationId xmlns:a16="http://schemas.microsoft.com/office/drawing/2014/main" id="{965D832A-7D05-16BF-CC44-830A31C766A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1500" y="1926134"/>
            <a:ext cx="3429000" cy="3798391"/>
          </a:xfrm>
          <a:prstGeom prst="rect">
            <a:avLst/>
          </a:prstGeom>
          <a:noFill/>
          <a:ln>
            <a:noFill/>
          </a:ln>
          <a:effectLst>
            <a:glow rad="177800">
              <a:schemeClr val="tx1">
                <a:alpha val="36000"/>
              </a:schemeClr>
            </a:glow>
            <a:softEdge rad="0"/>
          </a:effectLst>
        </p:spPr>
      </p:pic>
      <p:pic>
        <p:nvPicPr>
          <p:cNvPr id="3" name="Google Shape;131;p15" descr="image.png">
            <a:extLst>
              <a:ext uri="{FF2B5EF4-FFF2-40B4-BE49-F238E27FC236}">
                <a16:creationId xmlns:a16="http://schemas.microsoft.com/office/drawing/2014/main" id="{8DC125BC-6B99-5955-2A51-65546220CF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1964" y="1931369"/>
            <a:ext cx="3429000" cy="3798391"/>
          </a:xfrm>
          <a:prstGeom prst="rect">
            <a:avLst/>
          </a:prstGeom>
          <a:noFill/>
          <a:ln>
            <a:noFill/>
          </a:ln>
          <a:effectLst>
            <a:glow rad="177800">
              <a:schemeClr val="tx1">
                <a:alpha val="36000"/>
              </a:schemeClr>
            </a:glow>
            <a:softEdge rad="0"/>
          </a:effectLst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3293" y="1926134"/>
            <a:ext cx="3429000" cy="3798391"/>
          </a:xfrm>
          <a:prstGeom prst="rect">
            <a:avLst/>
          </a:prstGeom>
          <a:noFill/>
          <a:ln>
            <a:noFill/>
          </a:ln>
          <a:effectLst>
            <a:glow rad="177800">
              <a:schemeClr val="tx1">
                <a:alpha val="36000"/>
              </a:schemeClr>
            </a:glow>
            <a:softEdge rad="0"/>
          </a:effectLst>
        </p:spPr>
      </p:pic>
      <p:sp>
        <p:nvSpPr>
          <p:cNvPr id="134" name="Google Shape;134;p15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767239" y="2251039"/>
            <a:ext cx="244030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Video Blind Spots</a:t>
            </a:r>
            <a:endParaRPr dirty="0"/>
          </a:p>
        </p:txBody>
      </p:sp>
      <p:sp>
        <p:nvSpPr>
          <p:cNvPr id="138" name="Google Shape;138;p15"/>
          <p:cNvSpPr txBox="1"/>
          <p:nvPr/>
        </p:nvSpPr>
        <p:spPr>
          <a:xfrm>
            <a:off x="767239" y="2894558"/>
            <a:ext cx="2838450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CCTV cameras are reactive, not preventive. They cannot cover all angles, and subtle attacks like precise drilling may not be immediately obvious on a video feed.</a:t>
            </a:r>
            <a:endParaRPr dirty="0"/>
          </a:p>
        </p:txBody>
      </p:sp>
      <p:sp>
        <p:nvSpPr>
          <p:cNvPr id="139" name="Google Shape;139;p15"/>
          <p:cNvSpPr txBox="1"/>
          <p:nvPr/>
        </p:nvSpPr>
        <p:spPr>
          <a:xfrm>
            <a:off x="4582716" y="2276613"/>
            <a:ext cx="25503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Sensor Limitations</a:t>
            </a:r>
            <a:endParaRPr dirty="0"/>
          </a:p>
        </p:txBody>
      </p:sp>
      <p:sp>
        <p:nvSpPr>
          <p:cNvPr id="140" name="Google Shape;140;p15"/>
          <p:cNvSpPr txBox="1"/>
          <p:nvPr/>
        </p:nvSpPr>
        <p:spPr>
          <a:xfrm>
            <a:off x="4617903" y="2894558"/>
            <a:ext cx="2838450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Traditional sensors (vibration, heat) suffer from high false alarm rates. They can be triggered by innocent sources like heavy trucks or construction, leading to alert fatigue.</a:t>
            </a:r>
            <a:endParaRPr dirty="0"/>
          </a:p>
        </p:txBody>
      </p:sp>
      <p:sp>
        <p:nvSpPr>
          <p:cNvPr id="141" name="Google Shape;141;p15"/>
          <p:cNvSpPr txBox="1"/>
          <p:nvPr/>
        </p:nvSpPr>
        <p:spPr>
          <a:xfrm>
            <a:off x="8387320" y="2276613"/>
            <a:ext cx="225028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Real-Time Delay</a:t>
            </a:r>
            <a:endParaRPr dirty="0"/>
          </a:p>
        </p:txBody>
      </p:sp>
      <p:sp>
        <p:nvSpPr>
          <p:cNvPr id="142" name="Google Shape;142;p15"/>
          <p:cNvSpPr txBox="1"/>
          <p:nvPr/>
        </p:nvSpPr>
        <p:spPr>
          <a:xfrm>
            <a:off x="8468568" y="2994332"/>
            <a:ext cx="283845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Most breaches are detected *after* they occur. A system is needed to identify a threat *during* the act, minimizing financial loss and response time.</a:t>
            </a:r>
            <a:endParaRPr dirty="0"/>
          </a:p>
        </p:txBody>
      </p:sp>
      <p:sp>
        <p:nvSpPr>
          <p:cNvPr id="150" name="Google Shape;150;p15"/>
          <p:cNvSpPr txBox="1"/>
          <p:nvPr/>
        </p:nvSpPr>
        <p:spPr>
          <a:xfrm>
            <a:off x="6724650" y="9476482"/>
            <a:ext cx="5076825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/>
        </p:nvSpPr>
        <p:spPr>
          <a:xfrm>
            <a:off x="801666" y="652161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Objectives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0" y="7047607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References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6724650" y="9476482"/>
            <a:ext cx="5076825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F17C1A9-AE8E-9636-B9C4-2CFBB0AB5F61}"/>
              </a:ext>
            </a:extLst>
          </p:cNvPr>
          <p:cNvGrpSpPr/>
          <p:nvPr/>
        </p:nvGrpSpPr>
        <p:grpSpPr>
          <a:xfrm>
            <a:off x="882147" y="1378989"/>
            <a:ext cx="10427705" cy="4907511"/>
            <a:chOff x="1539433" y="2107192"/>
            <a:chExt cx="9294472" cy="3842794"/>
          </a:xfrm>
        </p:grpSpPr>
        <p:pic>
          <p:nvPicPr>
            <p:cNvPr id="2" name="Google Shape;131;p15" descr="image.png">
              <a:extLst>
                <a:ext uri="{FF2B5EF4-FFF2-40B4-BE49-F238E27FC236}">
                  <a16:creationId xmlns:a16="http://schemas.microsoft.com/office/drawing/2014/main" id="{1A49F9BC-1ECA-77D8-8A77-37D4B32D64C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6900"/>
                      </a14:imgEffect>
                    </a14:imgLayer>
                  </a14:imgProps>
                </a:ext>
              </a:extLst>
            </a:blip>
            <a:srcRect l="-1" r="-297"/>
            <a:stretch>
              <a:fillRect/>
            </a:stretch>
          </p:blipFill>
          <p:spPr>
            <a:xfrm>
              <a:off x="1539433" y="2107192"/>
              <a:ext cx="9294472" cy="3842794"/>
            </a:xfrm>
            <a:prstGeom prst="rect">
              <a:avLst/>
            </a:prstGeom>
            <a:noFill/>
            <a:ln>
              <a:noFill/>
            </a:ln>
            <a:effectLst>
              <a:glow rad="152400">
                <a:schemeClr val="tx1">
                  <a:alpha val="45000"/>
                </a:schemeClr>
              </a:glow>
              <a:softEdge rad="0"/>
            </a:effectLst>
          </p:spPr>
        </p:pic>
        <p:sp>
          <p:nvSpPr>
            <p:cNvPr id="160" name="Google Shape;160;p16"/>
            <p:cNvSpPr txBox="1"/>
            <p:nvPr/>
          </p:nvSpPr>
          <p:spPr>
            <a:xfrm>
              <a:off x="2190749" y="2573684"/>
              <a:ext cx="8191499" cy="689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just">
                <a:lnSpc>
                  <a:spcPct val="160000"/>
                </a:lnSpc>
              </a:pPr>
              <a:r>
                <a:rPr lang="en-IN" b="1" dirty="0"/>
                <a:t>Data Curation: </a:t>
              </a:r>
              <a:r>
                <a:rPr lang="en-US" dirty="0"/>
                <a:t>Aggregated and preprocessed industrial threat sounds and real-world environmental background noises to simulate ATM acoustic conditions.</a:t>
              </a:r>
              <a:endParaRPr dirty="0"/>
            </a:p>
          </p:txBody>
        </p:sp>
        <p:sp>
          <p:nvSpPr>
            <p:cNvPr id="161" name="Google Shape;161;p16"/>
            <p:cNvSpPr txBox="1"/>
            <p:nvPr/>
          </p:nvSpPr>
          <p:spPr>
            <a:xfrm>
              <a:off x="2190750" y="3406930"/>
              <a:ext cx="8191500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just"/>
              <a:r>
                <a:rPr lang="en-US" b="1" dirty="0"/>
                <a:t>Feature Extraction: </a:t>
              </a:r>
              <a:r>
                <a:rPr lang="en-US" dirty="0"/>
                <a:t>Applied MFCC algorithms to convert raw audio into meaningful spectral features for model training.</a:t>
              </a:r>
            </a:p>
            <a:p>
              <a:pPr algn="just"/>
              <a:endParaRPr lang="en-US" b="1" dirty="0"/>
            </a:p>
          </p:txBody>
        </p:sp>
        <p:sp>
          <p:nvSpPr>
            <p:cNvPr id="162" name="Google Shape;162;p16"/>
            <p:cNvSpPr txBox="1"/>
            <p:nvPr/>
          </p:nvSpPr>
          <p:spPr>
            <a:xfrm>
              <a:off x="2190750" y="3972783"/>
              <a:ext cx="8191500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just"/>
              <a:r>
                <a:rPr lang="en-US" b="1" dirty="0"/>
                <a:t>Model Architecture: </a:t>
              </a:r>
              <a:r>
                <a:rPr lang="en-US" dirty="0"/>
                <a:t>Built and validated a Hybrid CRNN combining CNN for spectral learning and RNN for temporal pattern recognition.</a:t>
              </a:r>
            </a:p>
          </p:txBody>
        </p:sp>
        <p:sp>
          <p:nvSpPr>
            <p:cNvPr id="163" name="Google Shape;163;p16"/>
            <p:cNvSpPr txBox="1"/>
            <p:nvPr/>
          </p:nvSpPr>
          <p:spPr>
            <a:xfrm>
              <a:off x="2190750" y="4516302"/>
              <a:ext cx="8191500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just"/>
              <a:r>
                <a:rPr lang="en-US" b="1" dirty="0"/>
                <a:t>Optimization: </a:t>
              </a:r>
              <a:r>
                <a:rPr lang="en-US" dirty="0"/>
                <a:t>Improved robustness using Gaussian noise–based data augmentation to achieve over 90% detection accuracy.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10E8D97-0990-8E54-38D0-C26EEA306682}"/>
                </a:ext>
              </a:extLst>
            </p:cNvPr>
            <p:cNvSpPr txBox="1"/>
            <p:nvPr/>
          </p:nvSpPr>
          <p:spPr>
            <a:xfrm>
              <a:off x="2074762" y="5000954"/>
              <a:ext cx="819149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buNone/>
              </a:pPr>
              <a:r>
                <a:rPr lang="en-US" b="1" dirty="0"/>
                <a:t>System Deployment: </a:t>
              </a:r>
              <a:r>
                <a:rPr lang="en-US" dirty="0"/>
                <a:t>Implemented a </a:t>
              </a:r>
              <a:r>
                <a:rPr lang="en-US" dirty="0" err="1"/>
                <a:t>Streamlit</a:t>
              </a:r>
              <a:r>
                <a:rPr lang="en-US" dirty="0"/>
                <a:t> dashboard enabling real-time audio processing, classification, and visual threat alerts.</a:t>
              </a: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EB6780A6-3C3E-5B39-0D96-EE363DDC3B6C}"/>
                </a:ext>
              </a:extLst>
            </p:cNvPr>
            <p:cNvSpPr/>
            <p:nvPr/>
          </p:nvSpPr>
          <p:spPr>
            <a:xfrm>
              <a:off x="1861643" y="2703108"/>
              <a:ext cx="213119" cy="139152"/>
            </a:xfrm>
            <a:prstGeom prst="rightArrow">
              <a:avLst>
                <a:gd name="adj1" fmla="val 41786"/>
                <a:gd name="adj2" fmla="val 88332"/>
              </a:avLst>
            </a:prstGeom>
            <a:solidFill>
              <a:schemeClr val="tx1"/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88966A23-1FE5-3C56-77E7-42900E971A89}"/>
                </a:ext>
              </a:extLst>
            </p:cNvPr>
            <p:cNvSpPr/>
            <p:nvPr/>
          </p:nvSpPr>
          <p:spPr>
            <a:xfrm>
              <a:off x="1863765" y="3465924"/>
              <a:ext cx="213119" cy="139152"/>
            </a:xfrm>
            <a:prstGeom prst="rightArrow">
              <a:avLst>
                <a:gd name="adj1" fmla="val 41786"/>
                <a:gd name="adj2" fmla="val 88332"/>
              </a:avLst>
            </a:prstGeom>
            <a:solidFill>
              <a:schemeClr val="tx1"/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FD78498D-ADFD-0EFA-3AE9-6964E878F31B}"/>
                </a:ext>
              </a:extLst>
            </p:cNvPr>
            <p:cNvSpPr/>
            <p:nvPr/>
          </p:nvSpPr>
          <p:spPr>
            <a:xfrm>
              <a:off x="1863765" y="4028589"/>
              <a:ext cx="213119" cy="139152"/>
            </a:xfrm>
            <a:prstGeom prst="rightArrow">
              <a:avLst>
                <a:gd name="adj1" fmla="val 41786"/>
                <a:gd name="adj2" fmla="val 88332"/>
              </a:avLst>
            </a:prstGeom>
            <a:solidFill>
              <a:schemeClr val="tx1"/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C3F54971-B624-F0E7-5861-F7B138B3B6F1}"/>
                </a:ext>
              </a:extLst>
            </p:cNvPr>
            <p:cNvSpPr/>
            <p:nvPr/>
          </p:nvSpPr>
          <p:spPr>
            <a:xfrm>
              <a:off x="1861643" y="4608497"/>
              <a:ext cx="213119" cy="139152"/>
            </a:xfrm>
            <a:prstGeom prst="rightArrow">
              <a:avLst>
                <a:gd name="adj1" fmla="val 41786"/>
                <a:gd name="adj2" fmla="val 88332"/>
              </a:avLst>
            </a:prstGeom>
            <a:solidFill>
              <a:schemeClr val="tx1"/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D2006AB2-1A34-0205-ABE8-E8496482594C}"/>
                </a:ext>
              </a:extLst>
            </p:cNvPr>
            <p:cNvSpPr/>
            <p:nvPr/>
          </p:nvSpPr>
          <p:spPr>
            <a:xfrm>
              <a:off x="1861642" y="5101586"/>
              <a:ext cx="213119" cy="139152"/>
            </a:xfrm>
            <a:prstGeom prst="rightArrow">
              <a:avLst>
                <a:gd name="adj1" fmla="val 41786"/>
                <a:gd name="adj2" fmla="val 88332"/>
              </a:avLst>
            </a:prstGeom>
            <a:solidFill>
              <a:schemeClr val="tx1"/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4012" y="1493425"/>
            <a:ext cx="5478143" cy="4636348"/>
          </a:xfrm>
          <a:prstGeom prst="rect">
            <a:avLst/>
          </a:prstGeom>
          <a:noFill/>
          <a:ln>
            <a:noFill/>
          </a:ln>
          <a:effectLst>
            <a:glow rad="177800">
              <a:schemeClr val="tx1">
                <a:alpha val="36000"/>
              </a:schemeClr>
            </a:glow>
          </a:effectLst>
        </p:spPr>
      </p:pic>
      <p:pic>
        <p:nvPicPr>
          <p:cNvPr id="178" name="Google Shape;17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69776" y="1493425"/>
            <a:ext cx="5286375" cy="4636347"/>
          </a:xfrm>
          <a:prstGeom prst="rect">
            <a:avLst/>
          </a:prstGeom>
          <a:noFill/>
          <a:ln>
            <a:noFill/>
          </a:ln>
          <a:effectLst>
            <a:glow rad="203200">
              <a:schemeClr val="tx1">
                <a:alpha val="36000"/>
              </a:schemeClr>
            </a:glow>
          </a:effectLst>
        </p:spPr>
      </p:pic>
      <p:sp>
        <p:nvSpPr>
          <p:cNvPr id="181" name="Google Shape;181;p17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Literature Review / Existing Systems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844092" y="1689786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Existing Physical Security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6724650" y="1687003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Academic Gap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6724650" y="9476482"/>
            <a:ext cx="5076825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399099-794C-2680-E384-CBBB60CD1370}"/>
              </a:ext>
            </a:extLst>
          </p:cNvPr>
          <p:cNvSpPr txBox="1"/>
          <p:nvPr/>
        </p:nvSpPr>
        <p:spPr>
          <a:xfrm>
            <a:off x="792163" y="2159455"/>
            <a:ext cx="5181840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en-US" sz="1450" dirty="0">
                <a:solidFill>
                  <a:schemeClr val="tx1"/>
                </a:solidFill>
                <a:latin typeface="Arial" panose="020B0604020202020204" pitchFamily="34" charset="0"/>
              </a:rPr>
              <a:t>AI-enabled smart energy meters with edge computing offer real-time decision-making and reduced latency.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en-US" sz="1450" dirty="0">
                <a:solidFill>
                  <a:schemeClr val="tx1"/>
                </a:solidFill>
                <a:latin typeface="Arial" panose="020B0604020202020204" pitchFamily="34" charset="0"/>
              </a:rPr>
              <a:t>Personalized Federated Learning improves building-level energy forecasting while preserving data privacy.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en-US" sz="1450" dirty="0">
                <a:solidFill>
                  <a:schemeClr val="tx1"/>
                </a:solidFill>
                <a:latin typeface="Arial" panose="020B0604020202020204" pitchFamily="34" charset="0"/>
              </a:rPr>
              <a:t>Explainable AI techniques like SHAP enhance interpretability in deep learning–based anomaly detection systems.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en-US" sz="1450" dirty="0">
                <a:solidFill>
                  <a:schemeClr val="tx1"/>
                </a:solidFill>
                <a:latin typeface="Arial" panose="020B0604020202020204" pitchFamily="34" charset="0"/>
              </a:rPr>
              <a:t>Optimized </a:t>
            </a:r>
            <a:r>
              <a:rPr lang="en-US" altLang="en-US" sz="1450" dirty="0" err="1">
                <a:solidFill>
                  <a:schemeClr val="tx1"/>
                </a:solidFill>
                <a:latin typeface="Arial" panose="020B0604020202020204" pitchFamily="34" charset="0"/>
              </a:rPr>
              <a:t>XGBoost</a:t>
            </a:r>
            <a:r>
              <a:rPr lang="en-US" altLang="en-US" sz="1450" dirty="0">
                <a:solidFill>
                  <a:schemeClr val="tx1"/>
                </a:solidFill>
                <a:latin typeface="Arial" panose="020B0604020202020204" pitchFamily="34" charset="0"/>
              </a:rPr>
              <a:t> models provide high-speed and accurate anomaly detection in SCADA-based smart grids.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en-US" sz="1450" dirty="0">
                <a:solidFill>
                  <a:schemeClr val="tx1"/>
                </a:solidFill>
                <a:latin typeface="Arial" panose="020B0604020202020204" pitchFamily="34" charset="0"/>
              </a:rPr>
              <a:t>Classical ML models (Isolation Forest, One-Class SVM, Random Forest) are effective for detecting electricity theft in Indian energy datasets.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en-US" sz="1450" dirty="0">
                <a:solidFill>
                  <a:schemeClr val="tx1"/>
                </a:solidFill>
                <a:latin typeface="Arial" panose="020B0604020202020204" pitchFamily="34" charset="0"/>
              </a:rPr>
              <a:t>For quasi-periodic energy data, simpler statistical/ML models can outperform complex deep learning methods depending on dataset characteristics.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1C587D-F03E-A13D-FAD7-58880FF2A479}"/>
              </a:ext>
            </a:extLst>
          </p:cNvPr>
          <p:cNvSpPr txBox="1"/>
          <p:nvPr/>
        </p:nvSpPr>
        <p:spPr>
          <a:xfrm>
            <a:off x="6605427" y="2020955"/>
            <a:ext cx="5150724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1450" dirty="0"/>
              <a:t>Lack of lightweight, edge-optimized hybrid audio models suitable for low-power ATM kiosk hardware like Raspberry Pi.</a:t>
            </a:r>
            <a:endParaRPr lang="en-IN" sz="1450" dirty="0"/>
          </a:p>
          <a:p>
            <a:pPr marL="285750" indent="-285750" eaLnBrk="0" fontAlgn="base" hangingPunct="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1450" dirty="0"/>
              <a:t>Limited research on temporal-rhythmic pattern recognition using RNNs to distinguish real attack signatures from urban noise.</a:t>
            </a:r>
            <a:endParaRPr lang="en-IN" sz="1450" dirty="0"/>
          </a:p>
          <a:p>
            <a:pPr marL="285750" indent="-285750" eaLnBrk="0" fontAlgn="base" hangingPunct="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1450" dirty="0"/>
              <a:t>Absence of strong data augmentation strategies to compensate for sparse real-world ATM attack audio datasets.</a:t>
            </a:r>
            <a:endParaRPr lang="en-IN" sz="1450" dirty="0"/>
          </a:p>
          <a:p>
            <a:pPr marL="285750" indent="-285750" eaLnBrk="0" fontAlgn="base" hangingPunct="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1450" dirty="0"/>
              <a:t>Limited development of real-time acoustic forensics integrated with user-friendly dashboards for live ATM monitoring.</a:t>
            </a:r>
            <a:endParaRPr lang="en-IN" sz="1450" dirty="0"/>
          </a:p>
          <a:p>
            <a:pPr marL="285750" indent="-285750" eaLnBrk="0" fontAlgn="base" hangingPunct="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1450" dirty="0"/>
              <a:t>Inadequate focus on reducing false positives in noisy urban environments with similar-sounding “hard negative” audio events.</a:t>
            </a:r>
            <a:endParaRPr lang="en-IN" sz="1450" dirty="0"/>
          </a:p>
          <a:p>
            <a:pPr marL="285750" indent="-285750" eaLnBrk="0" fontAlgn="base" hangingPunct="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1450" dirty="0"/>
              <a:t>Over-reliance on single-modal architectures instead of hybrid spatial-temporal CRNN models tailored for physical security detection.</a:t>
            </a:r>
            <a:endParaRPr lang="en-IN" sz="1450" dirty="0">
              <a:effectLst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77;p17" descr="image.png">
            <a:extLst>
              <a:ext uri="{FF2B5EF4-FFF2-40B4-BE49-F238E27FC236}">
                <a16:creationId xmlns:a16="http://schemas.microsoft.com/office/drawing/2014/main" id="{9651FE3A-9813-EE04-5782-A229F2C45F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969" y="4138910"/>
            <a:ext cx="2835920" cy="1384122"/>
          </a:xfrm>
          <a:prstGeom prst="rect">
            <a:avLst/>
          </a:prstGeom>
          <a:noFill/>
          <a:ln>
            <a:noFill/>
          </a:ln>
          <a:effectLst>
            <a:glow rad="177800">
              <a:schemeClr val="tx1">
                <a:alpha val="36000"/>
              </a:schemeClr>
            </a:glow>
          </a:effectLst>
        </p:spPr>
      </p:pic>
      <p:pic>
        <p:nvPicPr>
          <p:cNvPr id="15" name="Google Shape;177;p17" descr="image.png">
            <a:extLst>
              <a:ext uri="{FF2B5EF4-FFF2-40B4-BE49-F238E27FC236}">
                <a16:creationId xmlns:a16="http://schemas.microsoft.com/office/drawing/2014/main" id="{C4C822F1-F856-2C96-E92B-F035105EA4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15728" y="2112050"/>
            <a:ext cx="2668302" cy="1654790"/>
          </a:xfrm>
          <a:prstGeom prst="rect">
            <a:avLst/>
          </a:prstGeom>
          <a:noFill/>
          <a:ln>
            <a:noFill/>
          </a:ln>
          <a:effectLst>
            <a:glow rad="177800">
              <a:schemeClr val="tx1">
                <a:alpha val="36000"/>
              </a:schemeClr>
            </a:glow>
          </a:effectLst>
        </p:spPr>
      </p:pic>
      <p:pic>
        <p:nvPicPr>
          <p:cNvPr id="16" name="Google Shape;177;p17" descr="image.png">
            <a:extLst>
              <a:ext uri="{FF2B5EF4-FFF2-40B4-BE49-F238E27FC236}">
                <a16:creationId xmlns:a16="http://schemas.microsoft.com/office/drawing/2014/main" id="{57AF65D0-0E30-88FB-35FB-72A436478B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3339" y="4112797"/>
            <a:ext cx="2541240" cy="1410808"/>
          </a:xfrm>
          <a:prstGeom prst="rect">
            <a:avLst/>
          </a:prstGeom>
          <a:noFill/>
          <a:ln>
            <a:noFill/>
          </a:ln>
          <a:effectLst>
            <a:glow rad="177800">
              <a:schemeClr val="tx1">
                <a:alpha val="36000"/>
              </a:schemeClr>
            </a:glow>
          </a:effectLst>
        </p:spPr>
      </p:pic>
      <p:pic>
        <p:nvPicPr>
          <p:cNvPr id="13" name="Google Shape;177;p17" descr="image.png">
            <a:extLst>
              <a:ext uri="{FF2B5EF4-FFF2-40B4-BE49-F238E27FC236}">
                <a16:creationId xmlns:a16="http://schemas.microsoft.com/office/drawing/2014/main" id="{D462A471-01D6-CBD0-A86D-CA659B047B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43887" y="2319230"/>
            <a:ext cx="2668303" cy="1410808"/>
          </a:xfrm>
          <a:prstGeom prst="rect">
            <a:avLst/>
          </a:prstGeom>
          <a:noFill/>
          <a:ln>
            <a:noFill/>
          </a:ln>
          <a:effectLst>
            <a:glow rad="177800">
              <a:schemeClr val="tx1">
                <a:alpha val="36000"/>
              </a:schemeClr>
            </a:glow>
          </a:effectLst>
        </p:spPr>
      </p:pic>
      <p:sp>
        <p:nvSpPr>
          <p:cNvPr id="202" name="Google Shape;202;p18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Proposed System Methodology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571500" y="3895725"/>
            <a:ext cx="11049000" cy="38100"/>
          </a:xfrm>
          <a:prstGeom prst="roundRect">
            <a:avLst>
              <a:gd name="adj" fmla="val 16667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390525" y="8730555"/>
            <a:ext cx="5076825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Salamon, J., et al. (2014). "A Dataset and Taxonomy for Urban Sound Research (UrbanSound8K)." 22nd ACM International Conference on Multimedia.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390525" y="9237166"/>
            <a:ext cx="5076825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Adavanne, S., et al. (2017). "Sound event detection using spatial and harmonic features with 2D-CNN."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507968" y="4152900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1. Data Prep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571500" y="4581525"/>
            <a:ext cx="254124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Automated script sorts 1,213+ clips from 5 sources into `Normal` (0) and `Anomaly` (1).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3343888" y="2364283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2. Extraction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3407419" y="2792908"/>
            <a:ext cx="254124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Audio standardized to 4s and converted to MFCC Spectrograms ("sound fingerprints").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6179808" y="4152900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3. Augmentation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6243339" y="4581525"/>
            <a:ext cx="254124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Gaussian Noise added to training data, doubling the set to 1,940 samples to prevent overfitting.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9015728" y="2120503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4. Training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9079259" y="2549128"/>
            <a:ext cx="254124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A Hybrid CRNN (CNN + Bidirectional RNN) is trained to find temporal patterns in the fingerprints.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1757538" y="3819525"/>
            <a:ext cx="190500" cy="190500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 w="381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4582790" y="3819525"/>
            <a:ext cx="190500" cy="190500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 w="381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7418709" y="3819525"/>
            <a:ext cx="190500" cy="1905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81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10254629" y="3819525"/>
            <a:ext cx="190500" cy="1905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81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95B7AC0-1865-AD16-2CD3-DF7AE17D7719}"/>
              </a:ext>
            </a:extLst>
          </p:cNvPr>
          <p:cNvCxnSpPr>
            <a:cxnSpLocks/>
          </p:cNvCxnSpPr>
          <p:nvPr/>
        </p:nvCxnSpPr>
        <p:spPr>
          <a:xfrm flipV="1">
            <a:off x="2238375" y="3914940"/>
            <a:ext cx="1280160" cy="336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9B643BA-4F1C-E60D-224C-7215B1E278A3}"/>
              </a:ext>
            </a:extLst>
          </p:cNvPr>
          <p:cNvCxnSpPr>
            <a:cxnSpLocks/>
          </p:cNvCxnSpPr>
          <p:nvPr/>
        </p:nvCxnSpPr>
        <p:spPr>
          <a:xfrm flipV="1">
            <a:off x="704850" y="3911859"/>
            <a:ext cx="714726" cy="1025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3BB5C2E-B730-F558-AECD-F3F80D4679BF}"/>
              </a:ext>
            </a:extLst>
          </p:cNvPr>
          <p:cNvCxnSpPr>
            <a:cxnSpLocks/>
          </p:cNvCxnSpPr>
          <p:nvPr/>
        </p:nvCxnSpPr>
        <p:spPr>
          <a:xfrm flipV="1">
            <a:off x="5107305" y="3912588"/>
            <a:ext cx="1280160" cy="336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7EE0138-1490-490C-8CB8-921281D921AB}"/>
              </a:ext>
            </a:extLst>
          </p:cNvPr>
          <p:cNvCxnSpPr>
            <a:cxnSpLocks/>
          </p:cNvCxnSpPr>
          <p:nvPr/>
        </p:nvCxnSpPr>
        <p:spPr>
          <a:xfrm flipV="1">
            <a:off x="8031658" y="3915387"/>
            <a:ext cx="1280160" cy="336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5AB1F3A-22D5-201A-993C-77F7C366B286}"/>
              </a:ext>
            </a:extLst>
          </p:cNvPr>
          <p:cNvCxnSpPr>
            <a:cxnSpLocks/>
          </p:cNvCxnSpPr>
          <p:nvPr/>
        </p:nvCxnSpPr>
        <p:spPr>
          <a:xfrm>
            <a:off x="10637520" y="3911859"/>
            <a:ext cx="1013474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77;p17" descr="image.png">
            <a:extLst>
              <a:ext uri="{FF2B5EF4-FFF2-40B4-BE49-F238E27FC236}">
                <a16:creationId xmlns:a16="http://schemas.microsoft.com/office/drawing/2014/main" id="{651458C9-B023-3C91-4D05-C02E2DB993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000" y="2957038"/>
            <a:ext cx="5358800" cy="1537607"/>
          </a:xfrm>
          <a:prstGeom prst="rect">
            <a:avLst/>
          </a:prstGeom>
          <a:noFill/>
          <a:ln>
            <a:noFill/>
          </a:ln>
          <a:effectLst>
            <a:glow rad="177800">
              <a:schemeClr val="tx1">
                <a:alpha val="36000"/>
              </a:schemeClr>
            </a:glow>
          </a:effectLst>
        </p:spPr>
      </p:pic>
      <p:pic>
        <p:nvPicPr>
          <p:cNvPr id="4" name="Google Shape;177;p17" descr="image.png">
            <a:extLst>
              <a:ext uri="{FF2B5EF4-FFF2-40B4-BE49-F238E27FC236}">
                <a16:creationId xmlns:a16="http://schemas.microsoft.com/office/drawing/2014/main" id="{57BF0180-0109-B9A7-E7BF-4BA9CEB7D4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1052" y="1160419"/>
            <a:ext cx="5358800" cy="1537607"/>
          </a:xfrm>
          <a:prstGeom prst="rect">
            <a:avLst/>
          </a:prstGeom>
          <a:noFill/>
          <a:ln>
            <a:noFill/>
          </a:ln>
          <a:effectLst>
            <a:glow rad="177800">
              <a:schemeClr val="tx1">
                <a:alpha val="36000"/>
              </a:schemeClr>
            </a:glow>
          </a:effectLst>
        </p:spPr>
      </p:pic>
      <p:pic>
        <p:nvPicPr>
          <p:cNvPr id="5" name="Google Shape;177;p17" descr="image.png">
            <a:extLst>
              <a:ext uri="{FF2B5EF4-FFF2-40B4-BE49-F238E27FC236}">
                <a16:creationId xmlns:a16="http://schemas.microsoft.com/office/drawing/2014/main" id="{E8F106FE-7766-ED26-7D06-0784DC5C5E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1052" y="2945188"/>
            <a:ext cx="5358800" cy="1537607"/>
          </a:xfrm>
          <a:prstGeom prst="rect">
            <a:avLst/>
          </a:prstGeom>
          <a:noFill/>
          <a:ln>
            <a:noFill/>
          </a:ln>
          <a:effectLst>
            <a:glow rad="177800">
              <a:schemeClr val="tx1">
                <a:alpha val="36000"/>
              </a:schemeClr>
            </a:glow>
          </a:effectLst>
        </p:spPr>
      </p:pic>
      <p:pic>
        <p:nvPicPr>
          <p:cNvPr id="2" name="Google Shape;177;p17" descr="image.png">
            <a:extLst>
              <a:ext uri="{FF2B5EF4-FFF2-40B4-BE49-F238E27FC236}">
                <a16:creationId xmlns:a16="http://schemas.microsoft.com/office/drawing/2014/main" id="{7725BCCF-BC63-5776-63C3-DE546B4770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000" y="1180348"/>
            <a:ext cx="5358800" cy="1537607"/>
          </a:xfrm>
          <a:prstGeom prst="rect">
            <a:avLst/>
          </a:prstGeom>
          <a:noFill/>
          <a:ln>
            <a:noFill/>
          </a:ln>
          <a:effectLst>
            <a:glow rad="177800">
              <a:schemeClr val="tx1">
                <a:alpha val="36000"/>
              </a:schemeClr>
            </a:glow>
          </a:effectLst>
        </p:spPr>
      </p:pic>
      <p:sp>
        <p:nvSpPr>
          <p:cNvPr id="227" name="Google Shape;227;p19"/>
          <p:cNvSpPr txBox="1"/>
          <p:nvPr/>
        </p:nvSpPr>
        <p:spPr>
          <a:xfrm>
            <a:off x="0" y="7047607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References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545306" y="348200"/>
            <a:ext cx="555069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System Architecture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571500" y="1256201"/>
            <a:ext cx="555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1. The "Eye" (CNN)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825121" y="1743361"/>
            <a:ext cx="4348763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Two `Conv2D` layers (64 &amp; 128 filters) scan the MFCC "image" for textures and harmonic shapes.</a:t>
            </a:r>
            <a:endParaRPr dirty="0"/>
          </a:p>
        </p:txBody>
      </p:sp>
      <p:sp>
        <p:nvSpPr>
          <p:cNvPr id="232" name="Google Shape;232;p19"/>
          <p:cNvSpPr txBox="1"/>
          <p:nvPr/>
        </p:nvSpPr>
        <p:spPr>
          <a:xfrm>
            <a:off x="6406048" y="1245273"/>
            <a:ext cx="555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2. The "Bridge" (Reshape)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6611890" y="1718386"/>
            <a:ext cx="4597124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 `Permute` + `Reshape` layer flips the data to be read chronologically, from left to right.</a:t>
            </a:r>
            <a:endParaRPr dirty="0"/>
          </a:p>
        </p:txBody>
      </p:sp>
      <p:sp>
        <p:nvSpPr>
          <p:cNvPr id="234" name="Google Shape;234;p19"/>
          <p:cNvSpPr txBox="1"/>
          <p:nvPr/>
        </p:nvSpPr>
        <p:spPr>
          <a:xfrm>
            <a:off x="545399" y="2997256"/>
            <a:ext cx="555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3. The "Brain" (RNN)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703650" y="3362712"/>
            <a:ext cx="4910072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 `Bidirectional(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SimpleRNN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)` layer "listens" to the sound's context. It understands not just the *sound* of a drill, but the *sound of drilling over time*.</a:t>
            </a:r>
            <a:endParaRPr dirty="0"/>
          </a:p>
        </p:txBody>
      </p:sp>
      <p:sp>
        <p:nvSpPr>
          <p:cNvPr id="236" name="Google Shape;236;p19"/>
          <p:cNvSpPr txBox="1"/>
          <p:nvPr/>
        </p:nvSpPr>
        <p:spPr>
          <a:xfrm>
            <a:off x="6406048" y="3063333"/>
            <a:ext cx="555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4. The Output (Classifier)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6611890" y="3504578"/>
            <a:ext cx="5036422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 `Dense` layer with a `Sigmoid` function gives a final probability score between 0 (Normal) and 1 (Anomaly).</a:t>
            </a:r>
            <a:endParaRPr dirty="0"/>
          </a:p>
        </p:txBody>
      </p:sp>
      <p:pic>
        <p:nvPicPr>
          <p:cNvPr id="243" name="Google Shape;243;p19" title="diagram-export-11-14-2025-2_14_39-PM.png"/>
          <p:cNvPicPr preferRelativeResize="0"/>
          <p:nvPr/>
        </p:nvPicPr>
        <p:blipFill rotWithShape="1">
          <a:blip r:embed="rId4">
            <a:alphaModFix/>
          </a:blip>
          <a:srcRect b="26616"/>
          <a:stretch/>
        </p:blipFill>
        <p:spPr>
          <a:xfrm>
            <a:off x="1578191" y="4743310"/>
            <a:ext cx="9035617" cy="1849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"/>
          <p:cNvSpPr txBox="1"/>
          <p:nvPr/>
        </p:nvSpPr>
        <p:spPr>
          <a:xfrm>
            <a:off x="342563" y="260170"/>
            <a:ext cx="589323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Results, Analysis &amp; Screenshot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6724650" y="9476482"/>
            <a:ext cx="5076825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2BA40463-331F-7961-593F-CAC798B1E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516" y="871759"/>
            <a:ext cx="559447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 Matrix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how the model classified 243 test samples.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109 True Positives: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Correctly identified threats (Drilling/Sawing).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121 True Negatives: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Correctly identified normal sounds (Traffic/AC).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Errors: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Only 6 false alarms and 7 missed threats, proving high reliability.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FD86C2-AD4A-7716-6813-731CA3BD90F0}"/>
              </a:ext>
            </a:extLst>
          </p:cNvPr>
          <p:cNvSpPr txBox="1"/>
          <p:nvPr/>
        </p:nvSpPr>
        <p:spPr>
          <a:xfrm>
            <a:off x="6093047" y="1017685"/>
            <a:ext cx="5426674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 Training Performance: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Tracks the learning process of the initial Baseline CNN.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Blue (Training) and Orange (Validation) lines rise smoothly together.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Indicates stable learning with minimal overfitting, peaking around 92% accuracy.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64B134-6F53-362B-BFA3-2B86032035A4}"/>
              </a:ext>
            </a:extLst>
          </p:cNvPr>
          <p:cNvSpPr txBox="1"/>
          <p:nvPr/>
        </p:nvSpPr>
        <p:spPr>
          <a:xfrm>
            <a:off x="345516" y="2556991"/>
            <a:ext cx="616351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Comparison: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Compares the final accuracy of the two architectures.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Blue Bar: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Simple CNN achieved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92.18%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 Bar: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Hybrid CRNN (Augmented) achieved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94.01%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a clear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1.83% improvement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adding RNN layers and data augmentation.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1E9ED2-66F9-4BDD-E6C2-7EE281E483AB}"/>
              </a:ext>
            </a:extLst>
          </p:cNvPr>
          <p:cNvSpPr txBox="1"/>
          <p:nvPr/>
        </p:nvSpPr>
        <p:spPr>
          <a:xfrm>
            <a:off x="6090094" y="2532903"/>
            <a:ext cx="575639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CRNN Training Progress: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Tracks the training of the advanced Hybrid CRNN.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Jagged Orange Line: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validation accuracy fluctuates significantly, which is normal for complex models learning temporal patterns on small datasets.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Despite the volatility, it ultimately reaches a higher peak accuracy than the CNN</a:t>
            </a:r>
            <a:endParaRPr lang="en-IN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226F54C-A64E-8673-92FB-A325D9590B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28" t="7222" r="6083" b="4857"/>
          <a:stretch>
            <a:fillRect/>
          </a:stretch>
        </p:blipFill>
        <p:spPr>
          <a:xfrm>
            <a:off x="9263062" y="4139193"/>
            <a:ext cx="2586375" cy="246493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0" name="Picture 29" descr="A graph of blue and orange lines">
            <a:extLst>
              <a:ext uri="{FF2B5EF4-FFF2-40B4-BE49-F238E27FC236}">
                <a16:creationId xmlns:a16="http://schemas.microsoft.com/office/drawing/2014/main" id="{A2D5670F-90FF-801C-794B-CA50EB2483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06" t="6215" r="8012" b="1664"/>
          <a:stretch>
            <a:fillRect/>
          </a:stretch>
        </p:blipFill>
        <p:spPr>
          <a:xfrm>
            <a:off x="6293885" y="4139192"/>
            <a:ext cx="2826965" cy="246494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pic>
        <p:nvPicPr>
          <p:cNvPr id="31" name="Picture 30" descr="A graph of a graph showing a comparison of a model">
            <a:extLst>
              <a:ext uri="{FF2B5EF4-FFF2-40B4-BE49-F238E27FC236}">
                <a16:creationId xmlns:a16="http://schemas.microsoft.com/office/drawing/2014/main" id="{D8812F4E-479E-79AF-CFB5-06814D27CD0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63" t="4009" r="5617" b="5105"/>
          <a:stretch>
            <a:fillRect/>
          </a:stretch>
        </p:blipFill>
        <p:spPr>
          <a:xfrm>
            <a:off x="3427275" y="4154983"/>
            <a:ext cx="2733162" cy="246494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32" name="Google Shape;265;p20" title="61052bba-4989-448e-ada3-430a7a3da1f9.png">
            <a:extLst>
              <a:ext uri="{FF2B5EF4-FFF2-40B4-BE49-F238E27FC236}">
                <a16:creationId xmlns:a16="http://schemas.microsoft.com/office/drawing/2014/main" id="{2B12FF0C-E9B9-FB31-B592-B165D092DBB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t="4652" b="4661"/>
          <a:stretch/>
        </p:blipFill>
        <p:spPr>
          <a:xfrm>
            <a:off x="342563" y="4164120"/>
            <a:ext cx="2951263" cy="243371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1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Conclusion &amp; Future 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2190750" y="2436614"/>
            <a:ext cx="8191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Conclusion:</a:t>
            </a:r>
            <a:r>
              <a:rPr lang="en-US" sz="135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We successfully designed and trained a Hybrid CRNN model capable of detecting acoustic ATM threats with </a:t>
            </a:r>
            <a:r>
              <a:rPr lang="en-US" sz="13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94.65% accuracy</a:t>
            </a:r>
            <a:r>
              <a:rPr lang="en-US" sz="135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2190750" y="3175694"/>
            <a:ext cx="8191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Conclusion:</a:t>
            </a:r>
            <a:r>
              <a:rPr lang="en-US" sz="135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Data Augmentation (Gaussian Noise) was critical in preventing overfitting and pushing accuracy past the baseline CNN.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2190750" y="3914775"/>
            <a:ext cx="8191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Future Work:</a:t>
            </a:r>
            <a:r>
              <a:rPr lang="en-US" sz="135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Deploy the model on low-power hardware (like a Raspberry Pi) for cost-effective, real-world implementation.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2190750" y="4653855"/>
            <a:ext cx="8191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Future Work:</a:t>
            </a:r>
            <a:r>
              <a:rPr lang="en-US" sz="135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Expand the dataset with more diverse "Normal" sounds (e.g., vacuum cleaners, different music) to further reduce false alarms.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6724650" y="9476482"/>
            <a:ext cx="5076825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37F7E44-651C-7F9F-8ECA-103DEE106DD6}"/>
              </a:ext>
            </a:extLst>
          </p:cNvPr>
          <p:cNvSpPr/>
          <p:nvPr/>
        </p:nvSpPr>
        <p:spPr>
          <a:xfrm>
            <a:off x="1809750" y="2562049"/>
            <a:ext cx="239104" cy="158074"/>
          </a:xfrm>
          <a:prstGeom prst="rightArrow">
            <a:avLst>
              <a:gd name="adj1" fmla="val 39375"/>
              <a:gd name="adj2" fmla="val 73870"/>
            </a:avLst>
          </a:prstGeom>
          <a:solidFill>
            <a:schemeClr val="tx1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2A20CC4-C344-0F89-5192-456C45A85029}"/>
              </a:ext>
            </a:extLst>
          </p:cNvPr>
          <p:cNvSpPr/>
          <p:nvPr/>
        </p:nvSpPr>
        <p:spPr>
          <a:xfrm>
            <a:off x="1809750" y="3301129"/>
            <a:ext cx="239104" cy="158074"/>
          </a:xfrm>
          <a:prstGeom prst="rightArrow">
            <a:avLst>
              <a:gd name="adj1" fmla="val 39375"/>
              <a:gd name="adj2" fmla="val 73870"/>
            </a:avLst>
          </a:prstGeom>
          <a:solidFill>
            <a:schemeClr val="tx1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B5910E0-E55D-0869-3613-6CA5A212F433}"/>
              </a:ext>
            </a:extLst>
          </p:cNvPr>
          <p:cNvSpPr/>
          <p:nvPr/>
        </p:nvSpPr>
        <p:spPr>
          <a:xfrm>
            <a:off x="1809750" y="4031866"/>
            <a:ext cx="239104" cy="158074"/>
          </a:xfrm>
          <a:prstGeom prst="rightArrow">
            <a:avLst>
              <a:gd name="adj1" fmla="val 39375"/>
              <a:gd name="adj2" fmla="val 73870"/>
            </a:avLst>
          </a:prstGeom>
          <a:solidFill>
            <a:schemeClr val="tx1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B2A6FDF-98F8-576C-89C0-9932E9A534C0}"/>
              </a:ext>
            </a:extLst>
          </p:cNvPr>
          <p:cNvSpPr/>
          <p:nvPr/>
        </p:nvSpPr>
        <p:spPr>
          <a:xfrm>
            <a:off x="1809750" y="4779290"/>
            <a:ext cx="239104" cy="158074"/>
          </a:xfrm>
          <a:prstGeom prst="rightArrow">
            <a:avLst>
              <a:gd name="adj1" fmla="val 39375"/>
              <a:gd name="adj2" fmla="val 73870"/>
            </a:avLst>
          </a:prstGeom>
          <a:solidFill>
            <a:schemeClr val="tx1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C4BD2-01A6-0DB1-D6EA-A5E21C39F2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329" y="266902"/>
            <a:ext cx="5645552" cy="832694"/>
          </a:xfrm>
        </p:spPr>
        <p:txBody>
          <a:bodyPr>
            <a:normAutofit/>
          </a:bodyPr>
          <a:lstStyle/>
          <a:p>
            <a:pPr algn="l"/>
            <a:r>
              <a:rPr lang="en-US" sz="3300" b="1" dirty="0">
                <a:solidFill>
                  <a:schemeClr val="tx1"/>
                </a:solidFill>
                <a:latin typeface="+mj-lt"/>
                <a:ea typeface="Inter"/>
                <a:cs typeface="Inter"/>
                <a:sym typeface="Inter"/>
              </a:rPr>
              <a:t>References</a:t>
            </a:r>
            <a:endParaRPr lang="en-IN" sz="3300" dirty="0"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F9C80-E449-3098-21B8-725C04A76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328" y="1261641"/>
            <a:ext cx="11085653" cy="5329457"/>
          </a:xfrm>
        </p:spPr>
        <p:txBody>
          <a:bodyPr>
            <a:normAutofit/>
          </a:bodyPr>
          <a:lstStyle/>
          <a:p>
            <a:pPr algn="l"/>
            <a:r>
              <a:rPr lang="en-IN" sz="1800" dirty="0">
                <a:solidFill>
                  <a:schemeClr val="tx1"/>
                </a:solidFill>
              </a:rPr>
              <a:t>[1] K. J. </a:t>
            </a:r>
            <a:r>
              <a:rPr lang="en-IN" sz="1800" dirty="0" err="1">
                <a:solidFill>
                  <a:schemeClr val="tx1"/>
                </a:solidFill>
              </a:rPr>
              <a:t>Piczak</a:t>
            </a:r>
            <a:r>
              <a:rPr lang="en-IN" sz="1800" dirty="0">
                <a:solidFill>
                  <a:schemeClr val="tx1"/>
                </a:solidFill>
              </a:rPr>
              <a:t>, "Environmental sound classification with convolutional neural networks," in 2015 IEEE 25th International Workshop on Machine Learning for Signal Processing (MLSP), Boston, MA, USA, 2015, pp. 1–6. 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[2] J. Salamon and J. P. Bello, "Deep Convolutional Neural Networks and Data Augmentation for Environmental Sound Classification," IEEE Signal Processing Letters, vol. 24, no. 3, pp. 279–283, March 2017. 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[3] S. </a:t>
            </a:r>
            <a:r>
              <a:rPr lang="en-IN" sz="1800" dirty="0" err="1">
                <a:solidFill>
                  <a:schemeClr val="tx1"/>
                </a:solidFill>
              </a:rPr>
              <a:t>Adavanne</a:t>
            </a:r>
            <a:r>
              <a:rPr lang="en-IN" sz="1800" dirty="0">
                <a:solidFill>
                  <a:schemeClr val="tx1"/>
                </a:solidFill>
              </a:rPr>
              <a:t>, P. </a:t>
            </a:r>
            <a:r>
              <a:rPr lang="en-IN" sz="1800" dirty="0" err="1">
                <a:solidFill>
                  <a:schemeClr val="tx1"/>
                </a:solidFill>
              </a:rPr>
              <a:t>Pertilä</a:t>
            </a:r>
            <a:r>
              <a:rPr lang="en-IN" sz="1800" dirty="0">
                <a:solidFill>
                  <a:schemeClr val="tx1"/>
                </a:solidFill>
              </a:rPr>
              <a:t>, and T. Virtanen, "Sound event detection using spatial and harmonic features with 2D-CNN," in 2017 IEEE Workshop on Applications of Signal Processing to Audio and Acoustics (WASPAA), New Paltz, NY, USA, 2017, pp. 261–265. 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[4] V. Lemaire, O. Y. Al-Jarrah, and A. Al-</a:t>
            </a:r>
            <a:r>
              <a:rPr lang="en-IN" sz="1800" dirty="0" err="1">
                <a:solidFill>
                  <a:schemeClr val="tx1"/>
                </a:solidFill>
              </a:rPr>
              <a:t>Dmour</a:t>
            </a:r>
            <a:r>
              <a:rPr lang="en-IN" sz="1800" dirty="0">
                <a:solidFill>
                  <a:schemeClr val="tx1"/>
                </a:solidFill>
              </a:rPr>
              <a:t>, "Acoustic Surveillance of Hazardous Situations Using Deep Learning," IEEE Access, vol. 7, pp. 24343–24352, 2019. 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[5] R. Kumar and S. Shreyas, "An Intelligent ATM Security System using IoT and Deep Learning," International Journal of Engineering Research &amp; Technology (IJERT), vol. 9, no. 6, pp. 45–49, June 2020.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[6] E. Cakir, G. Parascandolo, T. </a:t>
            </a:r>
            <a:r>
              <a:rPr lang="en-IN" sz="1800" dirty="0" err="1">
                <a:solidFill>
                  <a:schemeClr val="tx1"/>
                </a:solidFill>
              </a:rPr>
              <a:t>Heittola</a:t>
            </a:r>
            <a:r>
              <a:rPr lang="en-IN" sz="1800" dirty="0">
                <a:solidFill>
                  <a:schemeClr val="tx1"/>
                </a:solidFill>
              </a:rPr>
              <a:t>, and T. Virtanen, "Convolutional Recurrent Neural Networks for Polyphonic Sound Event Detection," IEEE/ACM Transactions on Audio, Speech, and Language Processing, vol. 25, no. 6, pp. 1291–1303, June 2017. </a:t>
            </a:r>
          </a:p>
        </p:txBody>
      </p:sp>
    </p:spTree>
    <p:extLst>
      <p:ext uri="{BB962C8B-B14F-4D97-AF65-F5344CB8AC3E}">
        <p14:creationId xmlns:p14="http://schemas.microsoft.com/office/powerpoint/2010/main" val="337950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7A839-92BB-B05A-72F7-E1478BBA3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9AD0388-55D2-F167-A02B-6ECF1A77D5F2}"/>
              </a:ext>
            </a:extLst>
          </p:cNvPr>
          <p:cNvGrpSpPr/>
          <p:nvPr/>
        </p:nvGrpSpPr>
        <p:grpSpPr>
          <a:xfrm>
            <a:off x="2377440" y="2228671"/>
            <a:ext cx="9570719" cy="2400658"/>
            <a:chOff x="1699067" y="2228671"/>
            <a:chExt cx="8793866" cy="240065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37FF4B4-1BEF-A89F-4D95-2E5D05C9C69F}"/>
                </a:ext>
              </a:extLst>
            </p:cNvPr>
            <p:cNvSpPr txBox="1"/>
            <p:nvPr/>
          </p:nvSpPr>
          <p:spPr>
            <a:xfrm>
              <a:off x="1699067" y="2228671"/>
              <a:ext cx="8793866" cy="24006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5000" b="1" dirty="0">
                  <a:solidFill>
                    <a:schemeClr val="tx1"/>
                  </a:solidFill>
                  <a:latin typeface="Burbank Big Cd Bk" pitchFamily="50" charset="0"/>
                  <a:ea typeface="Inter"/>
                  <a:cs typeface="Inter"/>
                  <a:sym typeface="Inter"/>
                </a:rPr>
                <a:t>Thank </a:t>
              </a:r>
              <a:r>
                <a:rPr lang="en-US" sz="15000" b="1" dirty="0">
                  <a:solidFill>
                    <a:schemeClr val="tx1"/>
                  </a:solidFill>
                  <a:latin typeface="Burbank Big Cd Bk" pitchFamily="50" charset="0"/>
                  <a:ea typeface="Inter"/>
                  <a:sym typeface="Inter"/>
                </a:rPr>
                <a:t>You</a:t>
              </a:r>
              <a:endParaRPr lang="en-IN" sz="15000" b="1" dirty="0">
                <a:latin typeface="Burbank Big Cd Bk" pitchFamily="50" charset="0"/>
              </a:endParaRPr>
            </a:p>
          </p:txBody>
        </p:sp>
        <p:sp>
          <p:nvSpPr>
            <p:cNvPr id="6" name="Rectangle: Single Corner Snipped 5">
              <a:extLst>
                <a:ext uri="{FF2B5EF4-FFF2-40B4-BE49-F238E27FC236}">
                  <a16:creationId xmlns:a16="http://schemas.microsoft.com/office/drawing/2014/main" id="{D71C7964-2B9B-2512-0830-33A1D0A243AC}"/>
                </a:ext>
              </a:extLst>
            </p:cNvPr>
            <p:cNvSpPr/>
            <p:nvPr/>
          </p:nvSpPr>
          <p:spPr>
            <a:xfrm>
              <a:off x="1699068" y="4206241"/>
              <a:ext cx="7236589" cy="423088"/>
            </a:xfrm>
            <a:prstGeom prst="snip1Rect">
              <a:avLst>
                <a:gd name="adj" fmla="val 50000"/>
              </a:avLst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n>
                  <a:solidFill>
                    <a:srgbClr val="FFFF00"/>
                  </a:solidFill>
                </a:ln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7117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1428</Words>
  <Application>Microsoft Office PowerPoint</Application>
  <PresentationFormat>Widescreen</PresentationFormat>
  <Paragraphs>100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Wingdings</vt:lpstr>
      <vt:lpstr>Arial</vt:lpstr>
      <vt:lpstr>Inter</vt:lpstr>
      <vt:lpstr>Calibri</vt:lpstr>
      <vt:lpstr>Burbank Big Cd Bk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ABISHEK ..</cp:lastModifiedBy>
  <cp:revision>1</cp:revision>
  <dcterms:modified xsi:type="dcterms:W3CDTF">2025-11-28T16:53:15Z</dcterms:modified>
</cp:coreProperties>
</file>